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jaskamble/Desktop/BTP - Rooftop Solar Potential Mapping of IIT Delhi Campus/reports/figures/iit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13232"/>
            <a:ext cx="1115568" cy="67665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0574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Rooftop Solar Potential Mapping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IIT Delhi Campus</a:t>
            </a:r>
            <a:endParaRPr lang="en-US" sz="4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60" kern="0" dirty="0">
                <a:solidFill>
                  <a:srgbClr val="D97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  ·   Mid-term Review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5800" y="4526280"/>
            <a:ext cx="10817352" cy="0"/>
          </a:xfrm>
          <a:prstGeom prst="line">
            <a:avLst/>
          </a:prstGeom>
          <a:noFill/>
          <a:ln w="12700">
            <a:solidFill>
              <a:srgbClr val="3A38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Suresh Kamble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175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2023EE10974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Surbhi Rathore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5175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2023EE11224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4846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Yashasvi Bansal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5175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108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Engineering   ·   Indian Institute of Technology Delhi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flat roofs on campus carry no solar panels,</a:t>
            </a:r>
            <a:endParaRPr lang="en-US" sz="23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3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nobody has measured what they could generate.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9184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roofs that are still unused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of each is genuinely usable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electricity they would produce</a:t>
            </a:r>
            <a:endParaRPr lang="en-US" sz="16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campus grid can absorb 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1783080"/>
            <a:ext cx="3566160" cy="228600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75320" y="21031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Along the way we found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in the Institute's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data that nobody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had noticed.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behind the study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 us by the Estate Office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3957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meters, read every day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– April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429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daily meter readings across two spreadsheets</a:t>
            </a:r>
            <a:endParaRPr lang="en-US" sz="140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typing errors found and corrected before use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89320" y="1783080"/>
            <a:ext cx="0" cy="3291840"/>
          </a:xfrm>
          <a:prstGeom prst="line">
            <a:avLst/>
          </a:prstGeom>
          <a:noFill/>
          <a:ln w="12700">
            <a:solidFill>
              <a:srgbClr val="D8D8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us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86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records for Delhi  —  NASA POWER and PVGIS</a:t>
            </a:r>
            <a:endParaRPr lang="en-US" sz="14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building outlines  —  OpenStreetMap</a:t>
            </a:r>
            <a:endParaRPr lang="en-US" sz="14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 —  Esri World Imagery</a:t>
            </a:r>
            <a:endParaRPr lang="en-US" sz="14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Sun-angle data to work out panel spacing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parts, four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1880" cy="1783080"/>
          </a:xfrm>
          <a:prstGeom prst="rect">
            <a:avLst/>
          </a:prstGeom>
          <a:solidFill>
            <a:srgbClr val="A5322A"/>
          </a:solidFill>
          <a:ln w="12700">
            <a:solidFill>
              <a:srgbClr val="A532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3984" y="2148840"/>
            <a:ext cx="1071880" cy="1783080"/>
          </a:xfrm>
          <a:prstGeom prst="rect">
            <a:avLst/>
          </a:prstGeom>
          <a:solidFill>
            <a:srgbClr val="A5322A"/>
          </a:solidFill>
          <a:ln w="12700">
            <a:solidFill>
              <a:srgbClr val="A532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03984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58848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22168" y="2148840"/>
            <a:ext cx="1071880" cy="1783080"/>
          </a:xfrm>
          <a:prstGeom prst="rect">
            <a:avLst/>
          </a:prstGeom>
          <a:solidFill>
            <a:srgbClr val="A5322A"/>
          </a:solidFill>
          <a:ln w="12700">
            <a:solidFill>
              <a:srgbClr val="A532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22168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177032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sunshine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0352" y="2148840"/>
            <a:ext cx="1071880" cy="1783080"/>
          </a:xfrm>
          <a:prstGeom prst="rect">
            <a:avLst/>
          </a:prstGeom>
          <a:solidFill>
            <a:srgbClr val="A5322A"/>
          </a:solidFill>
          <a:ln w="12700">
            <a:solidFill>
              <a:srgbClr val="A532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0352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58536" y="2148840"/>
            <a:ext cx="107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58536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613400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76720" y="2148840"/>
            <a:ext cx="107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76720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831584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4904" y="2148840"/>
            <a:ext cx="107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94904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049768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13088" y="2148840"/>
            <a:ext cx="107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13088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267952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431272" y="2148840"/>
            <a:ext cx="107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8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431272" y="2331720"/>
            <a:ext cx="107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10486136" y="2880360"/>
            <a:ext cx="96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558536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presentation covers the first four.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jaskamble/Desktop/BTP - Rooftop Solar Potential Mapping of IIT Delhi Campus/reports/figures/campus_roofs_map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0"/>
            <a:ext cx="8394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475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80467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outline of every building on campus.</a:t>
            </a:r>
            <a:endParaRPr lang="en-US" sz="13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29 roofs that already carry panels — the meter data told us which.</a:t>
            </a:r>
            <a:endParaRPr lang="en-US" sz="13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rest on foot: flat roof, no panels, how many floors.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526280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376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selected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669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hostels · 4 academic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labs · 1 workshop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D97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 ·   Reading the meter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5156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existing plants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stopped generating.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953512"/>
            <a:ext cx="6400800" cy="0"/>
          </a:xfrm>
          <a:prstGeom prst="line">
            <a:avLst/>
          </a:prstGeom>
          <a:noFill/>
          <a:ln w="12700">
            <a:solidFill>
              <a:srgbClr val="3532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/ Amaltas Guest House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081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80644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months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529584"/>
            <a:ext cx="6400800" cy="0"/>
          </a:xfrm>
          <a:prstGeom prst="line">
            <a:avLst/>
          </a:prstGeom>
          <a:noFill/>
          <a:ln w="12700">
            <a:solidFill>
              <a:srgbClr val="3532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639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Library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576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months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105656"/>
            <a:ext cx="6400800" cy="0"/>
          </a:xfrm>
          <a:prstGeom prst="line">
            <a:avLst/>
          </a:prstGeom>
          <a:noFill/>
          <a:ln w="12700">
            <a:solidFill>
              <a:srgbClr val="3532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215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Building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4233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2025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months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4681728"/>
            <a:ext cx="6400800" cy="0"/>
          </a:xfrm>
          <a:prstGeom prst="line">
            <a:avLst/>
          </a:prstGeom>
          <a:noFill/>
          <a:ln w="12700">
            <a:solidFill>
              <a:srgbClr val="3532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91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Vishwakarma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809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2025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47640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1417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</a:t>
            </a:r>
            <a:endParaRPr lang="en-US" sz="96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2212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lakh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electricity never generated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092440" y="3520440"/>
            <a:ext cx="3383280" cy="0"/>
          </a:xfrm>
          <a:prstGeom prst="line">
            <a:avLst/>
          </a:prstGeom>
          <a:noFill/>
          <a:ln w="12700">
            <a:solidFill>
              <a:srgbClr val="3532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9244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 lakh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lost every month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readings were written down every single day throughout.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i="1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had subtracted one day from the next.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figures estimated from plant size and a provisional tariff; the outages themselves are certain.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the sunshine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sunshine records from two independent sources and compared them.</a:t>
            </a:r>
            <a:endParaRPr lang="en-US" sz="14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disagreed by 10% over the year — and almost all of the gap was in winter.</a:t>
            </a:r>
            <a:endParaRPr lang="en-US" sz="14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cause is Delhi's winter smog, which the European model does not capture.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3931920" cy="1691640"/>
          </a:xfrm>
          <a:prstGeom prst="rect">
            <a:avLst/>
          </a:prstGeom>
          <a:solidFill>
            <a:srgbClr val="F7F6F4"/>
          </a:solidFill>
          <a:ln w="12700">
            <a:solidFill>
              <a:srgbClr val="F7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45262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settled it with the campus's own meters.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510235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generation tracks NASA almost exactly. Trusting the standard tool would have made every figure about 10% too high.</a:t>
            </a:r>
            <a:endParaRPr lang="en-US" sz="1250" dirty="0"/>
          </a:p>
        </p:txBody>
      </p:sp>
      <p:pic>
        <p:nvPicPr>
          <p:cNvPr id="8" name="Image 0" descr="/Users/tejaskamble/Desktop/BTP - Rooftop Solar Potential Mapping of IIT Delhi Campus/reports/figures/sunshine_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45920"/>
            <a:ext cx="6492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roofs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MWp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installed across the ten roofs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about three times the solar the campus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862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roof traced by hand over satellite imagery in QGIS.</a:t>
            </a:r>
            <a:endParaRPr lang="en-US" sz="13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water tank, stair room and AC unit drawn and subtracted.</a:t>
            </a:r>
            <a:endParaRPr lang="en-US" sz="1350" dirty="0"/>
          </a:p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spacing worked out from the 21 December sun, not assumed.</a:t>
            </a:r>
            <a:endParaRPr lang="en-US" sz="1350" dirty="0"/>
          </a:p>
        </p:txBody>
      </p:sp>
      <p:pic>
        <p:nvPicPr>
          <p:cNvPr id="7" name="Image 0" descr="/Users/tejaskamble/Desktop/BTP - Rooftop Solar Potential Mapping of IIT Delhi Campus/reports/figures/osm_vs_tra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645920"/>
            <a:ext cx="6492240" cy="4023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0" y="57607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outlines overstated the roofs by 29% on average — and by anything from 0.3% to 67%, so no single correction could fix them.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5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5 to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46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3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73736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find roofs automatically, so the method can scale from 10 buildings to all 200 on campus.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6426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2596896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sun each roof loses to neighbouring buildings and trees, hour by hour.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655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02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34564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sunshine and roof area into units — checked against the campus plants that already work.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25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616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impact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43159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11 kV network can absorb it. Waiting on three documents from the Estate Office.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84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9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2212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costs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517550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cost per unit, and the ranked list of roofs worth doing first.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jaskamble/Desktop/BTP - Rooftop Solar Potential Mapping of IIT Delhi Campus/reports/figures/iit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960120" cy="5852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514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4F2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" y="4709160"/>
            <a:ext cx="10817352" cy="0"/>
          </a:xfrm>
          <a:prstGeom prst="line">
            <a:avLst/>
          </a:prstGeom>
          <a:noFill/>
          <a:ln w="12700">
            <a:solidFill>
              <a:srgbClr val="3A38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found stopped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5715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roofs measured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D970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MWp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5715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potential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2026-09-23T16:48:25Z</dcterms:created>
  <dcterms:modified xsi:type="dcterms:W3CDTF">2026-09-23T16:48:25Z</dcterms:modified>
</cp:coreProperties>
</file>