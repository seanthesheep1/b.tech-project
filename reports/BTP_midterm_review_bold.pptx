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pic>
        <p:nvPicPr>
          <p:cNvPr id="3" name="Image 0" descr="/Users/tejaskamble/Desktop/BTP - Rooftop Solar Potential Mapping of IIT Delhi Campus/reports/figures/iit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822960"/>
            <a:ext cx="1371600" cy="83210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914400" y="2377440"/>
            <a:ext cx="3108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ROOFTOP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POTENTIAL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5120640" y="1234440"/>
            <a:ext cx="65836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 of the</a:t>
            </a:r>
            <a:endParaRPr lang="en-US" sz="4600" dirty="0"/>
          </a:p>
          <a:p>
            <a:pPr indent="0" marL="0">
              <a:lnSpc>
                <a:spcPts val="5600"/>
              </a:lnSpc>
              <a:buNone/>
            </a:pPr>
            <a:r>
              <a:rPr lang="en-US" sz="4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IIT Delhi Campus</a:t>
            </a:r>
            <a:endParaRPr lang="en-US" sz="4600" dirty="0"/>
          </a:p>
        </p:txBody>
      </p:sp>
      <p:sp>
        <p:nvSpPr>
          <p:cNvPr id="6" name="Shape 3"/>
          <p:cNvSpPr/>
          <p:nvPr/>
        </p:nvSpPr>
        <p:spPr>
          <a:xfrm>
            <a:off x="5120640" y="3337560"/>
            <a:ext cx="1371600" cy="10058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20640" y="3657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60" kern="0" dirty="0">
                <a:solidFill>
                  <a:srgbClr val="E8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Project   ·   Mid-term Review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120640" y="4498848"/>
            <a:ext cx="146304" cy="31089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44348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Tejas Suresh Kamble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4709160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2023EE10974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5120640" y="5102352"/>
            <a:ext cx="146304" cy="310896"/>
          </a:xfrm>
          <a:prstGeom prst="rect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503834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Surbhi Rathore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531266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2023EE11224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120640" y="5705856"/>
            <a:ext cx="146304" cy="310896"/>
          </a:xfrm>
          <a:prstGeom prst="rect">
            <a:avLst/>
          </a:prstGeom>
          <a:solidFill>
            <a:srgbClr val="B02418"/>
          </a:solidFill>
          <a:ln w="12700">
            <a:solidFill>
              <a:srgbClr val="B0241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440680" y="564184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Yashasvi Bansal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5440680" y="591616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62636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180" kern="0" dirty="0">
                <a:solidFill>
                  <a:srgbClr val="6E68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ELECTRICAL ENGINEERING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23C5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8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143000"/>
            <a:ext cx="74980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Many flat roofs on</a:t>
            </a:r>
            <a:endParaRPr lang="en-US" sz="4200" dirty="0"/>
          </a:p>
          <a:p>
            <a:pPr indent="0" marL="0">
              <a:lnSpc>
                <a:spcPts val="5400"/>
              </a:lnSpc>
              <a:buNone/>
            </a:pPr>
            <a:r>
              <a:rPr lang="en-US" sz="42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campus carry no panels.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01752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9F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has measured what they could generate.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384048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4018788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353312" y="403250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roofs still unused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4636008"/>
            <a:ext cx="384048" cy="384048"/>
          </a:xfrm>
          <a:prstGeom prst="rect">
            <a:avLst/>
          </a:prstGeom>
          <a:solidFill>
            <a:srgbClr val="1B5375"/>
          </a:solidFill>
          <a:ln w="12700">
            <a:solidFill>
              <a:srgbClr val="1B537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4677156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353312" y="4690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what is genuinely usable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5294376"/>
            <a:ext cx="384048" cy="384048"/>
          </a:xfrm>
          <a:prstGeom prst="rect">
            <a:avLst/>
          </a:prstGeom>
          <a:solidFill>
            <a:srgbClr val="1B5375"/>
          </a:solidFill>
          <a:ln w="12700">
            <a:solidFill>
              <a:srgbClr val="1B537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5335524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353312" y="534924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the electricity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31520" y="5952744"/>
            <a:ext cx="384048" cy="384048"/>
          </a:xfrm>
          <a:prstGeom prst="rect">
            <a:avLst/>
          </a:prstGeom>
          <a:solidFill>
            <a:srgbClr val="1B5375"/>
          </a:solidFill>
          <a:ln w="12700">
            <a:solidFill>
              <a:srgbClr val="1B537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5993892"/>
            <a:ext cx="384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53312" y="60076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grid can absorb it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778240" y="1143000"/>
            <a:ext cx="2697480" cy="4023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0" y="1600200"/>
            <a:ext cx="21031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Along the way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found something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Institute's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data that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had</a:t>
            </a:r>
            <a:endParaRPr lang="en-US" sz="1900" dirty="0"/>
          </a:p>
          <a:p>
            <a:pPr indent="0" marL="0">
              <a:lnSpc>
                <a:spcPts val="3000"/>
              </a:lnSpc>
              <a:buNone/>
            </a:pPr>
            <a:r>
              <a:rPr lang="en-US" sz="19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noticed.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behind the study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057400"/>
            <a:ext cx="5212080" cy="3977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14300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GIVEN TO US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7600" dirty="0"/>
          </a:p>
        </p:txBody>
      </p:sp>
      <p:sp>
        <p:nvSpPr>
          <p:cNvPr id="7" name="Text 5"/>
          <p:cNvSpPr txBox="1"/>
          <p:nvPr/>
        </p:nvSpPr>
        <p:spPr>
          <a:xfrm>
            <a:off x="2880360" y="3017520"/>
            <a:ext cx="2560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meters,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every day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4114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2024 — April 2026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4526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17,000 daily readings across two spreadsheets</a:t>
            </a:r>
            <a:endParaRPr lang="en-US" sz="1400" dirty="0"/>
          </a:p>
          <a:p>
            <a:pPr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typing errors found and corrected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057400"/>
            <a:ext cx="5212080" cy="3977640"/>
          </a:xfrm>
          <a:prstGeom prst="rect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75120" y="242316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C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BY US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288036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Sunshine records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31821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C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NASA POWER  ·  PVGIS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365760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outlines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395935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C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OpenStreetMap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443484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 imagery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7365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C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Esri World Imagery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5212080"/>
            <a:ext cx="4389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 angles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6675120" y="551383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BCD9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panel row spacing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THE METHOD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Nine parts, four complete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198424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87552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27889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buildings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987552" y="33101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6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roofs picked from 200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16936" y="2011680"/>
            <a:ext cx="198424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72968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172968" y="27889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meter data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172968" y="33101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6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meters, 28 months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102352" y="2011680"/>
            <a:ext cx="198424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58384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5358384" y="27889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sunshine data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5358384" y="33101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6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sources, cross-checked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287768" y="2011680"/>
            <a:ext cx="1984248" cy="17830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4380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543800" y="27889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 the roofs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7543800" y="33101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F6D9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by hand in QGIS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473184" y="2011680"/>
            <a:ext cx="1984248" cy="17830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29216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9729216" y="27889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9729216" y="33101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to the whole campus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4069080"/>
            <a:ext cx="1984248" cy="17830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87552" y="4251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48463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Shadows</a:t>
            </a:r>
            <a:endParaRPr lang="en-US" sz="135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53675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roof loses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16936" y="4069080"/>
            <a:ext cx="1984248" cy="17830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172968" y="4251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000" dirty="0"/>
          </a:p>
        </p:txBody>
      </p:sp>
      <p:sp>
        <p:nvSpPr>
          <p:cNvPr id="30" name="Text 28"/>
          <p:cNvSpPr txBox="1"/>
          <p:nvPr/>
        </p:nvSpPr>
        <p:spPr>
          <a:xfrm>
            <a:off x="3172968" y="48463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electricity</a:t>
            </a:r>
            <a:endParaRPr lang="en-US" sz="1350" dirty="0"/>
          </a:p>
        </p:txBody>
      </p:sp>
      <p:sp>
        <p:nvSpPr>
          <p:cNvPr id="31" name="Text 29"/>
          <p:cNvSpPr txBox="1"/>
          <p:nvPr/>
        </p:nvSpPr>
        <p:spPr>
          <a:xfrm>
            <a:off x="3172968" y="53675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validate it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102352" y="4069080"/>
            <a:ext cx="1984248" cy="17830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358384" y="4251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3000" dirty="0"/>
          </a:p>
        </p:txBody>
      </p:sp>
      <p:sp>
        <p:nvSpPr>
          <p:cNvPr id="34" name="Text 32"/>
          <p:cNvSpPr txBox="1"/>
          <p:nvPr/>
        </p:nvSpPr>
        <p:spPr>
          <a:xfrm>
            <a:off x="5358384" y="48463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impact</a:t>
            </a:r>
            <a:endParaRPr lang="en-US" sz="1350" dirty="0"/>
          </a:p>
        </p:txBody>
      </p:sp>
      <p:sp>
        <p:nvSpPr>
          <p:cNvPr id="35" name="Text 33"/>
          <p:cNvSpPr txBox="1"/>
          <p:nvPr/>
        </p:nvSpPr>
        <p:spPr>
          <a:xfrm>
            <a:off x="5358384" y="53675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network take it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7287768" y="4069080"/>
            <a:ext cx="1984248" cy="1783080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43800" y="42519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6AD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3000" dirty="0"/>
          </a:p>
        </p:txBody>
      </p:sp>
      <p:sp>
        <p:nvSpPr>
          <p:cNvPr id="38" name="Text 36"/>
          <p:cNvSpPr txBox="1"/>
          <p:nvPr/>
        </p:nvSpPr>
        <p:spPr>
          <a:xfrm>
            <a:off x="7543800" y="48463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and costs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7543800" y="5367528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and ranking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6144768"/>
            <a:ext cx="274320" cy="14630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115568" y="6089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286000" y="6144768"/>
            <a:ext cx="274320" cy="146304"/>
          </a:xfrm>
          <a:prstGeom prst="rect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670048" y="6089904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to do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jaskamble/Desktop/BTP - Rooftop Solar Potential Mapping of IIT Delhi Campus/reports/figures/campus_roofs_map_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4760" y="0"/>
            <a:ext cx="839419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06908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731520" y="548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914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Choosing</a:t>
            </a:r>
            <a:endParaRPr lang="en-US" sz="3100" dirty="0"/>
          </a:p>
          <a:p>
            <a:pPr indent="0" marL="0">
              <a:lnSpc>
                <a:spcPts val="3800"/>
              </a:lnSpc>
              <a:buNone/>
            </a:pPr>
            <a:r>
              <a:rPr lang="en-US" sz="31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buildings</a:t>
            </a:r>
            <a:endParaRPr lang="en-US" sz="3100" dirty="0"/>
          </a:p>
        </p:txBody>
      </p:sp>
      <p:sp>
        <p:nvSpPr>
          <p:cNvPr id="6" name="Shape 3"/>
          <p:cNvSpPr/>
          <p:nvPr/>
        </p:nvSpPr>
        <p:spPr>
          <a:xfrm>
            <a:off x="731520" y="2843784"/>
            <a:ext cx="146304" cy="146304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78992" y="2788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every campus building outline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731520" y="3630168"/>
            <a:ext cx="146304" cy="146304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1078992" y="3575304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the 29 roofs that already have panels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31520" y="4416552"/>
            <a:ext cx="146304" cy="146304"/>
          </a:xfrm>
          <a:prstGeom prst="rect">
            <a:avLst/>
          </a:prstGeom>
          <a:solidFill>
            <a:srgbClr val="FBF7F0"/>
          </a:solidFill>
          <a:ln w="12700">
            <a:solidFill>
              <a:srgbClr val="FBF7F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078992" y="436168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rest on foot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5120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6800" dirty="0"/>
          </a:p>
        </p:txBody>
      </p:sp>
      <p:sp>
        <p:nvSpPr>
          <p:cNvPr id="13" name="Text 10"/>
          <p:cNvSpPr txBox="1"/>
          <p:nvPr/>
        </p:nvSpPr>
        <p:spPr>
          <a:xfrm>
            <a:off x="731520" y="59893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buildings selected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731520" y="62636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hostels · 4 academic · 2 labs · 1 workshop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E14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8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READING THE METER DATA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914400"/>
            <a:ext cx="6949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plants have</a:t>
            </a:r>
            <a:endParaRPr lang="en-US" sz="4200" dirty="0"/>
          </a:p>
          <a:p>
            <a:pPr indent="0" marL="0">
              <a:lnSpc>
                <a:spcPts val="5200"/>
              </a:lnSpc>
              <a:buNone/>
            </a:pPr>
            <a:r>
              <a:rPr lang="en-US" sz="42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stopped generating.</a:t>
            </a:r>
            <a:endParaRPr lang="en-US" sz="4200" dirty="0"/>
          </a:p>
        </p:txBody>
      </p:sp>
      <p:pic>
        <p:nvPicPr>
          <p:cNvPr id="4" name="Image 0" descr="/Users/tejaskamble/Desktop/BTP - Rooftop Solar Potential Mapping of IIT Delhi Campus/reports/figures/bold/outag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743200"/>
            <a:ext cx="6766560" cy="3200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138160" y="960120"/>
            <a:ext cx="3337560" cy="37033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503920" y="1234440"/>
            <a:ext cx="2377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₹13</a:t>
            </a:r>
            <a:endParaRPr lang="en-US" sz="820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251460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spc="300" kern="0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LAKH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8503920" y="30632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00" b="1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electricity never generated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8503920" y="3657600"/>
            <a:ext cx="2651760" cy="54864"/>
          </a:xfrm>
          <a:prstGeom prst="rect">
            <a:avLst/>
          </a:prstGeom>
          <a:solidFill>
            <a:srgbClr val="5C3304"/>
          </a:solidFill>
          <a:ln w="12700">
            <a:solidFill>
              <a:srgbClr val="5C330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503920" y="38404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 lakh still lost</a:t>
            </a:r>
            <a:endParaRPr lang="en-US" sz="15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month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8138160" y="4983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readings were written down every single day throughout.</a:t>
            </a:r>
            <a:endParaRPr lang="en-US" sz="135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had subtracted one day from the next.</a:t>
            </a:r>
            <a:endParaRPr lang="en-US" sz="135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62636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80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Rupee figures estimated from plant size and a provisional tariff; the outages themselves are certain.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Collecting the sunshine data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3931920" cy="4023360"/>
          </a:xfrm>
          <a:prstGeom prst="rect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2286000"/>
            <a:ext cx="3200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10%</a:t>
            </a:r>
            <a:endParaRPr lang="en-US" sz="6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333756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disagreement between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sunshine sources</a:t>
            </a:r>
            <a:endParaRPr lang="en-US" sz="145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almost all of it in winter.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572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B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settled it with the campus's own meters.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09728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CF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generation tracks NASA almost exactly.</a:t>
            </a:r>
            <a:endParaRPr lang="en-US" sz="1250" dirty="0"/>
          </a:p>
        </p:txBody>
      </p:sp>
      <p:pic>
        <p:nvPicPr>
          <p:cNvPr id="9" name="Image 0" descr="/Users/tejaskamble/Desktop/BTP - Rooftop Solar Potential Mapping of IIT Delhi Campus/reports/figures/bold/sunshi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4920" y="1920240"/>
            <a:ext cx="6400800" cy="3877056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074920" y="5943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87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Trusting the standard tool would have made every figure about 10% too high.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4 · MEASURING THE ROOFS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4572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MWp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5394960" y="109728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be installed across the ten roofs</a:t>
            </a:r>
            <a:endParaRPr lang="en-US" sz="16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600" dirty="0">
                <a:solidFill>
                  <a:srgbClr val="1411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about three times the solar the campus already has.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31720"/>
            <a:ext cx="5257800" cy="54864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514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ROOF TO PANELS</a:t>
            </a:r>
            <a:endParaRPr lang="en-US" sz="1150" dirty="0"/>
          </a:p>
        </p:txBody>
      </p:sp>
      <p:pic>
        <p:nvPicPr>
          <p:cNvPr id="7" name="Image 0" descr="/Users/tejaskamble/Desktop/BTP - Rooftop Solar Potential Mapping of IIT Delhi Campus/reports/figures/bold/area_ch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834640"/>
            <a:ext cx="5394960" cy="326440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309360" y="2331720"/>
            <a:ext cx="5166360" cy="54864"/>
          </a:xfrm>
          <a:prstGeom prst="rect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09360" y="251460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B3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ROOF COULD CARRY</a:t>
            </a:r>
            <a:endParaRPr lang="en-US" sz="1150" dirty="0"/>
          </a:p>
        </p:txBody>
      </p:sp>
      <p:pic>
        <p:nvPicPr>
          <p:cNvPr id="10" name="Image 1" descr="/Users/tejaskamble/Desktop/BTP - Rooftop Solar Potential Mapping of IIT Delhi Campus/reports/figures/bold/capac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834640"/>
            <a:ext cx="4983480" cy="327355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1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40" kern="0" dirty="0">
                <a:solidFill>
                  <a:srgbClr val="E8A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PARTS 5 TO 9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241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comes next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31520" y="2148840"/>
            <a:ext cx="1954987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19549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886200"/>
            <a:ext cx="18178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find roofs automatically, so the method scales from 10 buildings to all 200.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924251" y="2148840"/>
            <a:ext cx="1954987" cy="457200"/>
          </a:xfrm>
          <a:prstGeom prst="rect">
            <a:avLst/>
          </a:prstGeom>
          <a:solidFill>
            <a:srgbClr val="1D6FA3"/>
          </a:solidFill>
          <a:ln w="12700">
            <a:solidFill>
              <a:srgbClr val="1D6F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125419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2924251" y="2834640"/>
            <a:ext cx="19549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Shadows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924251" y="3886200"/>
            <a:ext cx="18178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sun each roof loses to neighbouring buildings and trees.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116982" y="2148840"/>
            <a:ext cx="1954987" cy="457200"/>
          </a:xfrm>
          <a:prstGeom prst="rect">
            <a:avLst/>
          </a:prstGeom>
          <a:solidFill>
            <a:srgbClr val="B02418"/>
          </a:solidFill>
          <a:ln w="12700">
            <a:solidFill>
              <a:srgbClr val="B0241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318150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116982" y="2834640"/>
            <a:ext cx="19549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Electricity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5116982" y="3886200"/>
            <a:ext cx="18178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sunshine and roof area into units, checked against the working plants.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09714" y="2148840"/>
            <a:ext cx="1954987" cy="457200"/>
          </a:xfrm>
          <a:prstGeom prst="rect">
            <a:avLst/>
          </a:prstGeom>
          <a:solidFill>
            <a:srgbClr val="5B7C99"/>
          </a:solidFill>
          <a:ln w="12700">
            <a:solidFill>
              <a:srgbClr val="5B7C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510882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7309714" y="2834640"/>
            <a:ext cx="19549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7309714" y="3886200"/>
            <a:ext cx="18178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the 11 kV network can absorb it. Waiting on three Estate Office documents.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502445" y="2148840"/>
            <a:ext cx="1954987" cy="457200"/>
          </a:xfrm>
          <a:prstGeom prst="rect">
            <a:avLst/>
          </a:prstGeom>
          <a:solidFill>
            <a:srgbClr val="8E877F"/>
          </a:solidFill>
          <a:ln w="12700">
            <a:solidFill>
              <a:srgbClr val="8E877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03613" y="2212848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411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9502445" y="2834640"/>
            <a:ext cx="1954987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700" dirty="0"/>
          </a:p>
          <a:p>
            <a:pPr indent="0" marL="0">
              <a:lnSpc>
                <a:spcPts val="2300"/>
              </a:lnSpc>
              <a:buNone/>
            </a:pPr>
            <a:r>
              <a:rPr lang="en-US" sz="17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costs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9502445" y="3886200"/>
            <a:ext cx="1817827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9A91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Payback, cost per unit, and the ranked list of roofs worth doing first.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977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tejaskamble/Desktop/BTP - Rooftop Solar Potential Mapping of IIT Delhi Campus/reports/figures/iitd_logo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77240"/>
            <a:ext cx="1234440" cy="74980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731520" y="228600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0" b="1" dirty="0">
                <a:solidFill>
                  <a:srgbClr val="FBF7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7800" dirty="0"/>
          </a:p>
        </p:txBody>
      </p:sp>
      <p:sp>
        <p:nvSpPr>
          <p:cNvPr id="4" name="Text 1"/>
          <p:cNvSpPr txBox="1"/>
          <p:nvPr/>
        </p:nvSpPr>
        <p:spPr>
          <a:xfrm>
            <a:off x="731520" y="370332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C33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900" dirty="0"/>
          </a:p>
        </p:txBody>
      </p:sp>
      <p:sp>
        <p:nvSpPr>
          <p:cNvPr id="5" name="Shape 2"/>
          <p:cNvSpPr/>
          <p:nvPr/>
        </p:nvSpPr>
        <p:spPr>
          <a:xfrm>
            <a:off x="731520" y="4846320"/>
            <a:ext cx="3200400" cy="1325880"/>
          </a:xfrm>
          <a:prstGeom prst="rect">
            <a:avLst/>
          </a:prstGeom>
          <a:solidFill>
            <a:srgbClr val="14110F"/>
          </a:solidFill>
          <a:ln w="12700">
            <a:solidFill>
              <a:srgbClr val="14110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0584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7" name="Text 4"/>
          <p:cNvSpPr txBox="1"/>
          <p:nvPr/>
        </p:nvSpPr>
        <p:spPr>
          <a:xfrm>
            <a:off x="1005840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plants found stopped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89120" y="4846320"/>
            <a:ext cx="3200400" cy="1325880"/>
          </a:xfrm>
          <a:prstGeom prst="rect">
            <a:avLst/>
          </a:prstGeom>
          <a:solidFill>
            <a:srgbClr val="14110F"/>
          </a:solidFill>
          <a:ln w="12700">
            <a:solidFill>
              <a:srgbClr val="14110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0" name="Text 7"/>
          <p:cNvSpPr txBox="1"/>
          <p:nvPr/>
        </p:nvSpPr>
        <p:spPr>
          <a:xfrm>
            <a:off x="4663440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roofs measured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046720" y="4846320"/>
            <a:ext cx="3200400" cy="1325880"/>
          </a:xfrm>
          <a:prstGeom prst="rect">
            <a:avLst/>
          </a:prstGeom>
          <a:solidFill>
            <a:srgbClr val="14110F"/>
          </a:solidFill>
          <a:ln w="12700">
            <a:solidFill>
              <a:srgbClr val="14110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1040" y="50292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8A0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 MWp</a:t>
            </a:r>
            <a:endParaRPr lang="en-US" sz="3200" dirty="0"/>
          </a:p>
        </p:txBody>
      </p:sp>
      <p:sp>
        <p:nvSpPr>
          <p:cNvPr id="13" name="Text 10"/>
          <p:cNvSpPr txBox="1"/>
          <p:nvPr/>
        </p:nvSpPr>
        <p:spPr>
          <a:xfrm>
            <a:off x="8321040" y="56875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6AD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untapped potential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2026-09-23T17:00:32Z</dcterms:created>
  <dcterms:modified xsi:type="dcterms:W3CDTF">2026-09-23T17:00:32Z</dcterms:modified>
</cp:coreProperties>
</file>